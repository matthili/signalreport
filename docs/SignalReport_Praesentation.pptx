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16213E"/>
    <a:srgbClr val="9E9E9E"/>
    <a:srgbClr val="4D9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52" autoAdjust="0"/>
    <p:restoredTop sz="94610"/>
  </p:normalViewPr>
  <p:slideViewPr>
    <p:cSldViewPr snapToGrid="0" snapToObjects="1">
      <p:cViewPr varScale="1">
        <p:scale>
          <a:sx n="228" d="100"/>
          <a:sy n="228" d="100"/>
        </p:scale>
        <p:origin x="28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176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4567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5400" b="1" kern="0" spc="300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SignalReport</a:t>
            </a:r>
            <a:endParaRPr lang="de-AT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22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Internet-Qualitäts-Monitoring</a:t>
            </a:r>
            <a:endParaRPr lang="de-AT" sz="22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2286000" cy="27432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600" noProof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Diplomprojekt</a:t>
            </a:r>
            <a:br>
              <a:rPr lang="de-AT" sz="1600" noProof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de-AT" sz="1600" dirty="0">
                <a:solidFill>
                  <a:srgbClr val="9E9E9E"/>
                </a:solidFill>
                <a:latin typeface="JetBrains Mono"/>
              </a:rPr>
              <a:t>Software </a:t>
            </a:r>
            <a:r>
              <a:rPr lang="de-AT" sz="1600" dirty="0" err="1">
                <a:solidFill>
                  <a:srgbClr val="9E9E9E"/>
                </a:solidFill>
                <a:latin typeface="JetBrains Mono"/>
              </a:rPr>
              <a:t>Developer:in</a:t>
            </a:r>
            <a:r>
              <a:rPr lang="de-AT" sz="1600" dirty="0">
                <a:solidFill>
                  <a:srgbClr val="9E9E9E"/>
                </a:solidFill>
                <a:latin typeface="JetBrains Mono"/>
              </a:rPr>
              <a:t> Java-Diplomlehrgang</a:t>
            </a:r>
            <a:endParaRPr lang="de-AT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8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Matthias Füssl</a:t>
            </a:r>
            <a:endParaRPr lang="de-AT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3B7A851-01F3-CEBF-E959-F00492103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031" y="1779762"/>
            <a:ext cx="6137544" cy="196927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94E0B2B-C077-4839-5D34-2759FBCA4732}"/>
              </a:ext>
            </a:extLst>
          </p:cNvPr>
          <p:cNvSpPr txBox="1"/>
          <p:nvPr/>
        </p:nvSpPr>
        <p:spPr>
          <a:xfrm>
            <a:off x="3348141" y="4850892"/>
            <a:ext cx="57958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AT" sz="1200" dirty="0">
                <a:solidFill>
                  <a:srgbClr val="9E9E9E"/>
                </a:solidFill>
                <a:effectLst/>
                <a:latin typeface="JetBrains Mono"/>
              </a:rPr>
              <a:t>WIFI Wien, Kurs 18195015, 10/2025-04/2026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</a:t>
            </a:r>
            <a:endParaRPr lang="de-AT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de-AT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1417320" y="1261872"/>
            <a:ext cx="18288" cy="2743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1600200" y="1188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8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Ausgangslage &amp; Motivation</a:t>
            </a:r>
            <a:endParaRPr lang="de-AT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de-AT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1417320" y="1764792"/>
            <a:ext cx="18288" cy="2743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9" name="Text 7"/>
          <p:cNvSpPr/>
          <p:nvPr/>
        </p:nvSpPr>
        <p:spPr>
          <a:xfrm>
            <a:off x="1600200" y="1691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8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Ziel &amp; Lösung</a:t>
            </a:r>
            <a:endParaRPr lang="de-AT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de-AT" sz="2000" noProof="0" dirty="0"/>
          </a:p>
        </p:txBody>
      </p:sp>
      <p:sp>
        <p:nvSpPr>
          <p:cNvPr id="11" name="Shape 9"/>
          <p:cNvSpPr/>
          <p:nvPr/>
        </p:nvSpPr>
        <p:spPr>
          <a:xfrm>
            <a:off x="1417320" y="2267712"/>
            <a:ext cx="18288" cy="2743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2" name="Text 10"/>
          <p:cNvSpPr/>
          <p:nvPr/>
        </p:nvSpPr>
        <p:spPr>
          <a:xfrm>
            <a:off x="1600200" y="2194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8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Architektur &amp; Design-Entscheidungen</a:t>
            </a:r>
            <a:endParaRPr lang="de-AT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de-AT" sz="2000" noProof="0" dirty="0"/>
          </a:p>
        </p:txBody>
      </p:sp>
      <p:sp>
        <p:nvSpPr>
          <p:cNvPr id="14" name="Shape 12"/>
          <p:cNvSpPr/>
          <p:nvPr/>
        </p:nvSpPr>
        <p:spPr>
          <a:xfrm>
            <a:off x="1417320" y="2770632"/>
            <a:ext cx="18288" cy="2743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5" name="Text 13"/>
          <p:cNvSpPr/>
          <p:nvPr/>
        </p:nvSpPr>
        <p:spPr>
          <a:xfrm>
            <a:off x="160020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8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Patterns</a:t>
            </a:r>
            <a:endParaRPr lang="de-AT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de-AT" sz="2000" noProof="0" dirty="0"/>
          </a:p>
        </p:txBody>
      </p:sp>
      <p:sp>
        <p:nvSpPr>
          <p:cNvPr id="17" name="Shape 15"/>
          <p:cNvSpPr/>
          <p:nvPr/>
        </p:nvSpPr>
        <p:spPr>
          <a:xfrm>
            <a:off x="1417320" y="3273552"/>
            <a:ext cx="18288" cy="2743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8" name="Text 16"/>
          <p:cNvSpPr/>
          <p:nvPr/>
        </p:nvSpPr>
        <p:spPr>
          <a:xfrm>
            <a:off x="1600200" y="3200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8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Technische Highlights</a:t>
            </a:r>
            <a:endParaRPr lang="de-AT" sz="1800" noProof="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de-AT" sz="2000" noProof="0" dirty="0"/>
          </a:p>
        </p:txBody>
      </p:sp>
      <p:sp>
        <p:nvSpPr>
          <p:cNvPr id="20" name="Shape 18"/>
          <p:cNvSpPr/>
          <p:nvPr/>
        </p:nvSpPr>
        <p:spPr>
          <a:xfrm>
            <a:off x="1417320" y="3776472"/>
            <a:ext cx="18288" cy="2743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1" name="Text 19"/>
          <p:cNvSpPr/>
          <p:nvPr/>
        </p:nvSpPr>
        <p:spPr>
          <a:xfrm>
            <a:off x="1600200" y="3703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8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Live-Demo</a:t>
            </a:r>
            <a:endParaRPr lang="de-AT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de-AT" sz="2000" noProof="0" dirty="0"/>
          </a:p>
        </p:txBody>
      </p:sp>
      <p:sp>
        <p:nvSpPr>
          <p:cNvPr id="23" name="Shape 21"/>
          <p:cNvSpPr/>
          <p:nvPr/>
        </p:nvSpPr>
        <p:spPr>
          <a:xfrm>
            <a:off x="1417320" y="4279392"/>
            <a:ext cx="18288" cy="2743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4" name="Text 22"/>
          <p:cNvSpPr/>
          <p:nvPr/>
        </p:nvSpPr>
        <p:spPr>
          <a:xfrm>
            <a:off x="1600200" y="4206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8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Fazit</a:t>
            </a:r>
            <a:endParaRPr lang="de-AT" sz="1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21945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4000" b="1" noProof="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de-AT" sz="40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 Erfahrung</a:t>
            </a:r>
            <a:endParaRPr lang="de-AT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 instabilen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Internetverbindungen</a:t>
            </a:r>
            <a:endParaRPr lang="de-AT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468880" cy="21945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9" name="Text 7"/>
          <p:cNvSpPr/>
          <p:nvPr/>
        </p:nvSpPr>
        <p:spPr>
          <a:xfrm>
            <a:off x="347472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4000" b="1" noProof="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de-AT" sz="4000" noProof="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Nachweispflicht</a:t>
            </a:r>
            <a:endParaRPr lang="de-AT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365760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de-AT" sz="120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Provider müssen Stabilität der Verbindung nicht belegen</a:t>
            </a:r>
            <a:endParaRPr lang="de-AT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468880" cy="21945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4000" b="1" noProof="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de-AT" sz="40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Protokollierung</a:t>
            </a:r>
            <a:endParaRPr lang="de-AT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Internet-Tagebuch „</a:t>
            </a: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Wann war die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Verbindung schlecht?“</a:t>
            </a:r>
            <a:endParaRPr lang="de-AT" sz="12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 Lösungen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2918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148840" cy="3200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Veraltet</a:t>
            </a:r>
            <a:endParaRPr lang="de-AT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6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Ältere Projekte</a:t>
            </a:r>
            <a:endParaRPr lang="de-AT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kein Support mehr</a:t>
            </a:r>
            <a:endParaRPr lang="de-AT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inkompatibel mit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modernen Systemen</a:t>
            </a:r>
            <a:endParaRPr lang="de-AT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 Vista+ / ARM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nicht unterstützt</a:t>
            </a:r>
            <a:endParaRPr lang="de-AT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97480" cy="32918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2" name="Shape 10"/>
          <p:cNvSpPr/>
          <p:nvPr/>
        </p:nvSpPr>
        <p:spPr>
          <a:xfrm>
            <a:off x="3611880" y="1371600"/>
            <a:ext cx="2148840" cy="320040"/>
          </a:xfrm>
          <a:prstGeom prst="rect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Text 11"/>
          <p:cNvSpPr/>
          <p:nvPr/>
        </p:nvSpPr>
        <p:spPr>
          <a:xfrm>
            <a:off x="361188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schwer</a:t>
            </a:r>
            <a:endParaRPr lang="de-AT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600" b="1" noProof="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r>
              <a:rPr lang="de-AT" sz="16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/Node.js Tools</a:t>
            </a:r>
            <a:endParaRPr lang="de-AT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3809860" y="2720340"/>
            <a:ext cx="16681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hoher RAM-Bedarf </a:t>
            </a:r>
            <a:b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</a:b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hohe CPU-Last</a:t>
            </a:r>
            <a:b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</a:b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hohes Datenaufkommen</a:t>
            </a:r>
            <a:endParaRPr lang="de-AT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3611880" y="3427951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 500 MB für einfaches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</a:t>
            </a:r>
            <a:endParaRPr lang="de-AT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3611880" y="3915771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auf NAS/SBC mit 1-2 GB RAM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nicht lauffähig</a:t>
            </a:r>
            <a:endParaRPr lang="de-AT" sz="1200" noProof="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697480" cy="32918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9" name="Shape 17"/>
          <p:cNvSpPr/>
          <p:nvPr/>
        </p:nvSpPr>
        <p:spPr>
          <a:xfrm>
            <a:off x="6492240" y="1371600"/>
            <a:ext cx="2148840" cy="32004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0" name="Text 18"/>
          <p:cNvSpPr/>
          <p:nvPr/>
        </p:nvSpPr>
        <p:spPr>
          <a:xfrm>
            <a:off x="649224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de-AT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640080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6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SignalReport</a:t>
            </a:r>
            <a:endParaRPr lang="de-AT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Leichtgewichtig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(~17 MB JAR inkl. DB)</a:t>
            </a:r>
            <a:endParaRPr lang="de-AT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649224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Java 21 läuft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überall</a:t>
            </a:r>
            <a:endParaRPr lang="de-AT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6492240" y="36576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Raspberry Pi, NAS,</a:t>
            </a:r>
            <a:endParaRPr lang="de-AT" sz="1200" noProof="0" dirty="0"/>
          </a:p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Desktop, Server</a:t>
            </a:r>
            <a:endParaRPr lang="de-AT" sz="1200" noProof="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CCCD0F0F-466F-9A27-E149-22A963A49B1B}"/>
              </a:ext>
            </a:extLst>
          </p:cNvPr>
          <p:cNvSpPr/>
          <p:nvPr/>
        </p:nvSpPr>
        <p:spPr>
          <a:xfrm>
            <a:off x="3611880" y="2240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 </a:t>
            </a:r>
            <a:r>
              <a:rPr lang="de-AT" sz="120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z.T. </a:t>
            </a: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nur bei aktiver Internet-Verbindung</a:t>
            </a:r>
            <a:endParaRPr lang="de-AT" sz="12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SignalReport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" cy="109728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/ DNS / HTTP</a:t>
            </a:r>
            <a:endParaRPr lang="de-AT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drei Messverfahren</a:t>
            </a:r>
            <a:endParaRPr lang="de-AT" sz="1200" noProof="0" dirty="0"/>
          </a:p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 Intervall</a:t>
            </a:r>
            <a:endParaRPr lang="de-AT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9748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9" name="Shape 7"/>
          <p:cNvSpPr/>
          <p:nvPr/>
        </p:nvSpPr>
        <p:spPr>
          <a:xfrm>
            <a:off x="3520440" y="1371600"/>
            <a:ext cx="109728" cy="109728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0" name="Text 8"/>
          <p:cNvSpPr/>
          <p:nvPr/>
        </p:nvSpPr>
        <p:spPr>
          <a:xfrm>
            <a:off x="374904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Live-Dashboard</a:t>
            </a:r>
            <a:endParaRPr lang="de-AT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Chart.js mit</a:t>
            </a:r>
            <a:endParaRPr lang="de-AT" sz="1200" noProof="0" dirty="0"/>
          </a:p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5-Sekunden-Updates</a:t>
            </a:r>
            <a:endParaRPr lang="de-AT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9748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109728" cy="109728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4" name="Text 12"/>
          <p:cNvSpPr/>
          <p:nvPr/>
        </p:nvSpPr>
        <p:spPr>
          <a:xfrm>
            <a:off x="662940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PDF-Bericht</a:t>
            </a:r>
            <a:endParaRPr lang="de-AT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professioneller Beleg für den</a:t>
            </a:r>
            <a:endParaRPr lang="de-AT" sz="1200" noProof="0" dirty="0"/>
          </a:p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Kunden</a:t>
            </a:r>
            <a:endParaRPr lang="de-AT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9748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8" name="Text 16"/>
          <p:cNvSpPr/>
          <p:nvPr/>
        </p:nvSpPr>
        <p:spPr>
          <a:xfrm>
            <a:off x="86868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DNS-Benchmark</a:t>
            </a:r>
            <a:endParaRPr lang="de-AT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globaler DNS-Server</a:t>
            </a:r>
            <a:endParaRPr lang="de-AT" sz="1200" noProof="0" dirty="0"/>
          </a:p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Vergleich</a:t>
            </a:r>
            <a:endParaRPr lang="de-AT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3337560" y="3017520"/>
            <a:ext cx="269748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1" name="Shape 19"/>
          <p:cNvSpPr/>
          <p:nvPr/>
        </p:nvSpPr>
        <p:spPr>
          <a:xfrm>
            <a:off x="3520440" y="3200400"/>
            <a:ext cx="109728" cy="109728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2" name="Text 20"/>
          <p:cNvSpPr/>
          <p:nvPr/>
        </p:nvSpPr>
        <p:spPr>
          <a:xfrm>
            <a:off x="374904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Cross-Plattform</a:t>
            </a:r>
            <a:endParaRPr lang="de-AT" sz="1500" noProof="0" dirty="0"/>
          </a:p>
        </p:txBody>
      </p:sp>
      <p:sp>
        <p:nvSpPr>
          <p:cNvPr id="23" name="Text 21"/>
          <p:cNvSpPr/>
          <p:nvPr/>
        </p:nvSpPr>
        <p:spPr>
          <a:xfrm>
            <a:off x="3520440" y="35204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20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Windows, Linux,</a:t>
            </a:r>
            <a:endParaRPr lang="de-AT" sz="1200" dirty="0"/>
          </a:p>
          <a:p>
            <a:r>
              <a:rPr lang="de-AT" sz="120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macOS</a:t>
            </a:r>
            <a:r>
              <a:rPr lang="de-AT" sz="120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NAS, SBC, Docker</a:t>
            </a:r>
            <a:endParaRPr lang="de-AT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69748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0" y="3200400"/>
            <a:ext cx="109728" cy="109728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6" name="Text 24"/>
          <p:cNvSpPr/>
          <p:nvPr/>
        </p:nvSpPr>
        <p:spPr>
          <a:xfrm>
            <a:off x="66294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5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Authentifizierung</a:t>
            </a:r>
            <a:endParaRPr lang="de-AT" sz="1500" noProof="0" dirty="0"/>
          </a:p>
        </p:txBody>
      </p:sp>
      <p:sp>
        <p:nvSpPr>
          <p:cNvPr id="27" name="Text 25"/>
          <p:cNvSpPr/>
          <p:nvPr/>
        </p:nvSpPr>
        <p:spPr>
          <a:xfrm>
            <a:off x="6400800" y="35204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Challenge-Response</a:t>
            </a:r>
            <a:endParaRPr lang="de-AT" sz="1200" noProof="0" dirty="0"/>
          </a:p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SHA-256</a:t>
            </a:r>
            <a:endParaRPr lang="de-AT" sz="12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4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Java-Backend  (</a:t>
            </a:r>
            <a:r>
              <a:rPr lang="de-AT" sz="1400" b="1" noProof="0" dirty="0" err="1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Javalin</a:t>
            </a:r>
            <a:r>
              <a:rPr lang="de-AT" sz="14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de-AT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719072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Mess-Engine (Ping, DNS, HTTP)</a:t>
            </a:r>
            <a:endParaRPr lang="de-AT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066544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9" name="Text 7"/>
          <p:cNvSpPr/>
          <p:nvPr/>
        </p:nvSpPr>
        <p:spPr>
          <a:xfrm>
            <a:off x="960120" y="19751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DnsBenchmark</a:t>
            </a: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(Virtual Threads)</a:t>
            </a:r>
            <a:endParaRPr lang="de-AT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777240" y="2414016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1" name="Text 9"/>
          <p:cNvSpPr/>
          <p:nvPr/>
        </p:nvSpPr>
        <p:spPr>
          <a:xfrm>
            <a:off x="960120" y="23225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H2 Database (</a:t>
            </a: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embedded</a:t>
            </a: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de-AT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777240" y="2761488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Text 11"/>
          <p:cNvSpPr/>
          <p:nvPr/>
        </p:nvSpPr>
        <p:spPr>
          <a:xfrm>
            <a:off x="960120" y="2670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WebServer</a:t>
            </a: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+ REST-API</a:t>
            </a:r>
            <a:endParaRPr lang="de-AT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777240" y="3108960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5" name="Text 13"/>
          <p:cNvSpPr/>
          <p:nvPr/>
        </p:nvSpPr>
        <p:spPr>
          <a:xfrm>
            <a:off x="960120" y="3017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SessionManager</a:t>
            </a: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(Auth)</a:t>
            </a:r>
            <a:endParaRPr lang="de-AT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777240" y="3456432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7" name="Text 15"/>
          <p:cNvSpPr/>
          <p:nvPr/>
        </p:nvSpPr>
        <p:spPr>
          <a:xfrm>
            <a:off x="960120" y="3364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PdfReportGenerator</a:t>
            </a: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</a:t>
            </a: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OpenPDF</a:t>
            </a: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de-AT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777240" y="3803904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9" name="Text 17"/>
          <p:cNvSpPr/>
          <p:nvPr/>
        </p:nvSpPr>
        <p:spPr>
          <a:xfrm>
            <a:off x="960120" y="37124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PushNotificationService</a:t>
            </a:r>
            <a:endParaRPr lang="de-AT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777240" y="4151376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1" name="Text 19"/>
          <p:cNvSpPr/>
          <p:nvPr/>
        </p:nvSpPr>
        <p:spPr>
          <a:xfrm>
            <a:off x="960120" y="40599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</a:t>
            </a: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(JSON, Singleton)</a:t>
            </a:r>
            <a:endParaRPr lang="de-AT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4480560" y="2834640"/>
            <a:ext cx="274320" cy="18288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4" name="Shape 22"/>
          <p:cNvSpPr/>
          <p:nvPr/>
        </p:nvSpPr>
        <p:spPr>
          <a:xfrm rot="1800000">
            <a:off x="4681728" y="2814084"/>
            <a:ext cx="73152" cy="18288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5" name="Shape 23"/>
          <p:cNvSpPr/>
          <p:nvPr/>
        </p:nvSpPr>
        <p:spPr>
          <a:xfrm rot="-1800000">
            <a:off x="4681728" y="2853684"/>
            <a:ext cx="73152" cy="18288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6" name="Shape 24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4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Browser-Frontend</a:t>
            </a:r>
            <a:endParaRPr lang="de-AT" sz="1400" noProof="0" dirty="0"/>
          </a:p>
        </p:txBody>
      </p:sp>
      <p:sp>
        <p:nvSpPr>
          <p:cNvPr id="28" name="Shape 26"/>
          <p:cNvSpPr/>
          <p:nvPr/>
        </p:nvSpPr>
        <p:spPr>
          <a:xfrm>
            <a:off x="5166360" y="1719072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9" name="Text 27"/>
          <p:cNvSpPr/>
          <p:nvPr/>
        </p:nvSpPr>
        <p:spPr>
          <a:xfrm>
            <a:off x="534924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Live-Charts (Chart.js)</a:t>
            </a:r>
            <a:endParaRPr lang="de-AT" sz="1100" noProof="0" dirty="0"/>
          </a:p>
        </p:txBody>
      </p:sp>
      <p:sp>
        <p:nvSpPr>
          <p:cNvPr id="30" name="Shape 28"/>
          <p:cNvSpPr/>
          <p:nvPr/>
        </p:nvSpPr>
        <p:spPr>
          <a:xfrm>
            <a:off x="5166360" y="2066544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1" name="Text 29"/>
          <p:cNvSpPr/>
          <p:nvPr/>
        </p:nvSpPr>
        <p:spPr>
          <a:xfrm>
            <a:off x="5349240" y="19751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Statistik-Panel &amp; </a:t>
            </a: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Heatmap</a:t>
            </a:r>
            <a:endParaRPr lang="de-AT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5166360" y="2414016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3" name="Text 31"/>
          <p:cNvSpPr/>
          <p:nvPr/>
        </p:nvSpPr>
        <p:spPr>
          <a:xfrm>
            <a:off x="5349240" y="23225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DNS-Benchmark-UI</a:t>
            </a:r>
            <a:endParaRPr lang="de-AT" sz="1100" noProof="0" dirty="0"/>
          </a:p>
        </p:txBody>
      </p:sp>
      <p:sp>
        <p:nvSpPr>
          <p:cNvPr id="34" name="Shape 32"/>
          <p:cNvSpPr/>
          <p:nvPr/>
        </p:nvSpPr>
        <p:spPr>
          <a:xfrm>
            <a:off x="5166360" y="2761488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5" name="Text 33"/>
          <p:cNvSpPr/>
          <p:nvPr/>
        </p:nvSpPr>
        <p:spPr>
          <a:xfrm>
            <a:off x="5349240" y="2670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Einstellungs-Tabs</a:t>
            </a:r>
            <a:endParaRPr lang="de-AT" sz="1100" noProof="0" dirty="0"/>
          </a:p>
        </p:txBody>
      </p:sp>
      <p:sp>
        <p:nvSpPr>
          <p:cNvPr id="36" name="Shape 34"/>
          <p:cNvSpPr/>
          <p:nvPr/>
        </p:nvSpPr>
        <p:spPr>
          <a:xfrm>
            <a:off x="5166360" y="3108960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7" name="Text 35"/>
          <p:cNvSpPr/>
          <p:nvPr/>
        </p:nvSpPr>
        <p:spPr>
          <a:xfrm>
            <a:off x="5349240" y="3017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Dark Mode / Light Mode</a:t>
            </a:r>
            <a:endParaRPr lang="de-AT" sz="1100" noProof="0" dirty="0"/>
          </a:p>
        </p:txBody>
      </p:sp>
      <p:sp>
        <p:nvSpPr>
          <p:cNvPr id="38" name="Shape 36"/>
          <p:cNvSpPr/>
          <p:nvPr/>
        </p:nvSpPr>
        <p:spPr>
          <a:xfrm>
            <a:off x="5166360" y="3456432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9" name="Text 37"/>
          <p:cNvSpPr/>
          <p:nvPr/>
        </p:nvSpPr>
        <p:spPr>
          <a:xfrm>
            <a:off x="5349240" y="3364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PDF/CSV-Export</a:t>
            </a:r>
            <a:endParaRPr lang="de-AT" sz="1100" noProof="0" dirty="0"/>
          </a:p>
        </p:txBody>
      </p:sp>
      <p:sp>
        <p:nvSpPr>
          <p:cNvPr id="40" name="Shape 38"/>
          <p:cNvSpPr/>
          <p:nvPr/>
        </p:nvSpPr>
        <p:spPr>
          <a:xfrm>
            <a:off x="5166360" y="3803904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41" name="Text 39"/>
          <p:cNvSpPr/>
          <p:nvPr/>
        </p:nvSpPr>
        <p:spPr>
          <a:xfrm>
            <a:off x="5349240" y="37124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Crypto API (SHA-256)</a:t>
            </a:r>
            <a:endParaRPr lang="de-AT" sz="1100" noProof="0" dirty="0"/>
          </a:p>
        </p:txBody>
      </p:sp>
      <p:sp>
        <p:nvSpPr>
          <p:cNvPr id="42" name="Shape 40"/>
          <p:cNvSpPr/>
          <p:nvPr/>
        </p:nvSpPr>
        <p:spPr>
          <a:xfrm>
            <a:off x="5166360" y="4151376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43" name="Text 41"/>
          <p:cNvSpPr/>
          <p:nvPr/>
        </p:nvSpPr>
        <p:spPr>
          <a:xfrm>
            <a:off x="5349240" y="40599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 </a:t>
            </a: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Notifications</a:t>
            </a:r>
            <a:endParaRPr lang="de-AT" sz="1100" noProof="0" dirty="0"/>
          </a:p>
        </p:txBody>
      </p:sp>
      <p:sp>
        <p:nvSpPr>
          <p:cNvPr id="44" name="Shape 42"/>
          <p:cNvSpPr/>
          <p:nvPr/>
        </p:nvSpPr>
        <p:spPr>
          <a:xfrm>
            <a:off x="457200" y="4663440"/>
            <a:ext cx="2286000" cy="320040"/>
          </a:xfrm>
          <a:prstGeom prst="rect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Klassen  |  1 Package</a:t>
            </a:r>
            <a:endParaRPr lang="de-AT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3794761" y="2487168"/>
            <a:ext cx="158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000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http://xy:4567</a:t>
            </a:r>
            <a:endParaRPr lang="de-AT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4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 Design-Entscheidungen</a:t>
            </a:r>
            <a:endParaRPr lang="de-AT" sz="3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7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Web-UI statt JavaFX</a:t>
            </a:r>
            <a:endParaRPr lang="de-AT" sz="17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3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</a:t>
            </a:r>
            <a:r>
              <a:rPr lang="de-AT" sz="13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</a:t>
            </a:r>
            <a:r>
              <a:rPr lang="de-AT" sz="13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Fat</a:t>
            </a:r>
            <a:r>
              <a:rPr lang="de-AT" sz="13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-JAR, welches überall läuft</a:t>
            </a:r>
            <a:endParaRPr lang="de-AT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NAS, </a:t>
            </a:r>
            <a:r>
              <a:rPr lang="de-AT" sz="11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Headless</a:t>
            </a: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-Server haben nahezu immer und SBC oft keinen Desktop.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JavaFX hätte diese Plattformen ausgeschlossen.</a:t>
            </a:r>
            <a:endParaRPr lang="de-AT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6675120" y="1234440"/>
            <a:ext cx="1737360" cy="3200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0" name="Text 8"/>
          <p:cNvSpPr/>
          <p:nvPr/>
        </p:nvSpPr>
        <p:spPr>
          <a:xfrm>
            <a:off x="66751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= Desktop </a:t>
            </a:r>
            <a:r>
              <a:rPr lang="de-AT" sz="1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de-AT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6675120" y="1645920"/>
            <a:ext cx="1737360" cy="32004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2" name="Text 10"/>
          <p:cNvSpPr/>
          <p:nvPr/>
        </p:nvSpPr>
        <p:spPr>
          <a:xfrm>
            <a:off x="667512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Web-UI = überall</a:t>
            </a:r>
            <a:endParaRPr lang="de-AT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54864" cy="109728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700" b="1" noProof="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Embedded Database</a:t>
            </a:r>
            <a:endParaRPr lang="de-AT" sz="1700" noProof="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3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null Konfiguration für den Benutzer</a:t>
            </a:r>
            <a:endParaRPr lang="de-AT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Kein MySQL, kein PostgreSQL, kein Setup. Die Datenbank wird im </a:t>
            </a:r>
            <a:r>
              <a:rPr lang="de-AT" sz="11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Fat</a:t>
            </a: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-JAR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mitgeliefert und startet automatisch. Der Benutzer merkt davon nichts.</a:t>
            </a:r>
            <a:endParaRPr lang="de-AT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6858000" y="2589678"/>
            <a:ext cx="1554480" cy="7315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9" name="Text 17"/>
          <p:cNvSpPr/>
          <p:nvPr/>
        </p:nvSpPr>
        <p:spPr>
          <a:xfrm>
            <a:off x="6858000" y="263622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400" b="1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</a:t>
            </a:r>
            <a:endParaRPr lang="de-AT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6858000" y="288077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App + DB</a:t>
            </a:r>
            <a:endParaRPr lang="de-AT" sz="1100" noProof="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700" b="1" noProof="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nützlich für andere</a:t>
            </a:r>
            <a:endParaRPr lang="de-AT" sz="1700" noProof="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3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niederschwellig auch für Laien verwendbar</a:t>
            </a:r>
            <a:endParaRPr lang="de-AT" sz="1300" noProof="0" dirty="0"/>
          </a:p>
        </p:txBody>
      </p:sp>
      <p:sp>
        <p:nvSpPr>
          <p:cNvPr id="25" name="Text 23"/>
          <p:cNvSpPr/>
          <p:nvPr/>
        </p:nvSpPr>
        <p:spPr>
          <a:xfrm>
            <a:off x="73152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(Quellcode) + fertiges JAR + Installations-Skripte für viele Plattformen.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Docker-Container auf Docker Hub in Kürze verfügbar.</a:t>
            </a:r>
            <a:endParaRPr lang="de-AT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6492240" y="412863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de-AT" sz="1100" noProof="0" dirty="0">
                <a:solidFill>
                  <a:srgbClr val="3A3A5C"/>
                </a:solidFill>
              </a:rPr>
              <a:t>  |  </a:t>
            </a:r>
            <a:r>
              <a:rPr lang="de-AT" sz="11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</a:t>
            </a:r>
            <a:r>
              <a:rPr lang="de-AT" sz="1100" noProof="0" dirty="0">
                <a:solidFill>
                  <a:srgbClr val="3A3A5C"/>
                </a:solidFill>
              </a:rPr>
              <a:t>  |  </a:t>
            </a:r>
            <a:r>
              <a:rPr lang="de-AT" sz="1100" b="1" noProof="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de-AT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16916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1691640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600" b="1" noProof="0" dirty="0" err="1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de-AT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Measurer</a:t>
            </a:r>
            <a:r>
              <a:rPr lang="de-AT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-Interface</a:t>
            </a:r>
            <a:endParaRPr lang="de-AT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PingMeasurer</a:t>
            </a: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DnsMeasurer</a:t>
            </a: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de-AT" sz="1000" noProof="0" dirty="0"/>
          </a:p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HttpMeasurer</a:t>
            </a:r>
            <a:endParaRPr lang="de-AT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97480" cy="16916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54864" cy="169164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1" name="Text 9"/>
          <p:cNvSpPr/>
          <p:nvPr/>
        </p:nvSpPr>
        <p:spPr>
          <a:xfrm>
            <a:off x="352044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600" b="1" noProof="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de-AT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352044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de-AT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Config.getInstance</a:t>
            </a: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de-AT" sz="1000" noProof="0" dirty="0"/>
          </a:p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PushNotificationService</a:t>
            </a:r>
            <a:endParaRPr lang="de-AT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97480" cy="16916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54864" cy="1691640"/>
          </a:xfrm>
          <a:prstGeom prst="rect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600" b="1" noProof="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de-AT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Datenzugriff</a:t>
            </a:r>
            <a:endParaRPr lang="de-AT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H2MeasurementRepository</a:t>
            </a:r>
            <a:endParaRPr lang="de-AT" sz="1000" noProof="0" dirty="0"/>
          </a:p>
          <a:p>
            <a:pPr marL="0" indent="0">
              <a:buNone/>
            </a:pP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SQL-Abstraktion</a:t>
            </a:r>
            <a:endParaRPr lang="de-AT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97480" cy="16916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54864" cy="169164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600" b="1" noProof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</a:t>
            </a:r>
            <a:r>
              <a:rPr lang="de-AT" sz="1000" b="1" noProof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</a:t>
            </a:r>
            <a:endParaRPr lang="de-AT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Benachrichtigungen</a:t>
            </a:r>
            <a:endParaRPr lang="de-AT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PushNotificationService</a:t>
            </a:r>
            <a:endParaRPr lang="de-AT" sz="1000" noProof="0" dirty="0"/>
          </a:p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CopyOnWriteArrayList</a:t>
            </a:r>
            <a:endParaRPr lang="de-AT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3337560" y="3063240"/>
            <a:ext cx="2697480" cy="16916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5" name="Shape 23"/>
          <p:cNvSpPr/>
          <p:nvPr/>
        </p:nvSpPr>
        <p:spPr>
          <a:xfrm>
            <a:off x="3337560" y="3063240"/>
            <a:ext cx="54864" cy="1691640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6" name="Text 24"/>
          <p:cNvSpPr/>
          <p:nvPr/>
        </p:nvSpPr>
        <p:spPr>
          <a:xfrm>
            <a:off x="35204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600" b="1" noProof="0" dirty="0" err="1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de-AT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352044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API-Schnittstelle</a:t>
            </a:r>
            <a:endParaRPr lang="de-AT" sz="1200" noProof="0" dirty="0"/>
          </a:p>
        </p:txBody>
      </p:sp>
      <p:sp>
        <p:nvSpPr>
          <p:cNvPr id="28" name="Text 26"/>
          <p:cNvSpPr/>
          <p:nvPr/>
        </p:nvSpPr>
        <p:spPr>
          <a:xfrm>
            <a:off x="3520440" y="3840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WebServer</a:t>
            </a:r>
            <a:endParaRPr lang="de-AT" sz="1000" noProof="0" dirty="0"/>
          </a:p>
          <a:p>
            <a:pPr marL="0" indent="0">
              <a:buNone/>
            </a:pP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REST-Routing</a:t>
            </a:r>
            <a:endParaRPr lang="de-AT" sz="1000" noProof="0" dirty="0"/>
          </a:p>
        </p:txBody>
      </p:sp>
      <p:sp>
        <p:nvSpPr>
          <p:cNvPr id="29" name="Shape 27"/>
          <p:cNvSpPr/>
          <p:nvPr/>
        </p:nvSpPr>
        <p:spPr>
          <a:xfrm>
            <a:off x="6217920" y="3063240"/>
            <a:ext cx="2697480" cy="16916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54864" cy="169164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1" name="Text 29"/>
          <p:cNvSpPr/>
          <p:nvPr/>
        </p:nvSpPr>
        <p:spPr>
          <a:xfrm>
            <a:off x="64008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600" b="1" noProof="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de-AT" sz="1600" noProof="0" dirty="0"/>
          </a:p>
        </p:txBody>
      </p:sp>
      <p:sp>
        <p:nvSpPr>
          <p:cNvPr id="32" name="Text 30"/>
          <p:cNvSpPr/>
          <p:nvPr/>
        </p:nvSpPr>
        <p:spPr>
          <a:xfrm>
            <a:off x="6400800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</a:t>
            </a:r>
            <a:r>
              <a:rPr lang="de-AT" sz="1200" noProof="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de-AT" sz="1200" noProof="0" dirty="0"/>
          </a:p>
        </p:txBody>
      </p:sp>
      <p:sp>
        <p:nvSpPr>
          <p:cNvPr id="33" name="Text 31"/>
          <p:cNvSpPr/>
          <p:nvPr/>
        </p:nvSpPr>
        <p:spPr>
          <a:xfrm>
            <a:off x="6400800" y="3840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Config.createDefault</a:t>
            </a: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de-AT" sz="1000" noProof="0" dirty="0"/>
          </a:p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Config.load</a:t>
            </a: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de-AT" sz="1000" noProof="0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7759EA81-9146-C9D0-3189-4C44262F7E4C}"/>
              </a:ext>
            </a:extLst>
          </p:cNvPr>
          <p:cNvSpPr txBox="1"/>
          <p:nvPr/>
        </p:nvSpPr>
        <p:spPr>
          <a:xfrm>
            <a:off x="4482993" y="2572274"/>
            <a:ext cx="1606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1200" dirty="0" err="1">
                <a:solidFill>
                  <a:srgbClr val="FF3399"/>
                </a:solidFill>
              </a:rPr>
              <a:t>Creational</a:t>
            </a:r>
            <a:r>
              <a:rPr lang="de-AT" sz="1200" dirty="0">
                <a:solidFill>
                  <a:srgbClr val="FF3399"/>
                </a:solidFill>
              </a:rPr>
              <a:t> </a:t>
            </a:r>
            <a:r>
              <a:rPr lang="de-AT" sz="1200" dirty="0" err="1">
                <a:solidFill>
                  <a:srgbClr val="FF3399"/>
                </a:solidFill>
              </a:rPr>
              <a:t>GoF</a:t>
            </a:r>
            <a:endParaRPr lang="de-AT" sz="1200" dirty="0">
              <a:solidFill>
                <a:srgbClr val="FF3399"/>
              </a:solidFill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4C25B28-58FB-8225-8213-52638D17D61D}"/>
              </a:ext>
            </a:extLst>
          </p:cNvPr>
          <p:cNvSpPr txBox="1"/>
          <p:nvPr/>
        </p:nvSpPr>
        <p:spPr>
          <a:xfrm>
            <a:off x="1611777" y="2571750"/>
            <a:ext cx="1606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1200" dirty="0">
                <a:solidFill>
                  <a:srgbClr val="FF3399"/>
                </a:solidFill>
              </a:rPr>
              <a:t>Behavioral </a:t>
            </a:r>
            <a:r>
              <a:rPr lang="de-AT" sz="1200" dirty="0" err="1">
                <a:solidFill>
                  <a:srgbClr val="FF3399"/>
                </a:solidFill>
              </a:rPr>
              <a:t>GoF</a:t>
            </a:r>
            <a:endParaRPr lang="de-AT" sz="1200" dirty="0">
              <a:solidFill>
                <a:srgbClr val="FF3399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964BDF3-9BA1-493C-19CB-3A64AC0709F1}"/>
              </a:ext>
            </a:extLst>
          </p:cNvPr>
          <p:cNvSpPr txBox="1"/>
          <p:nvPr/>
        </p:nvSpPr>
        <p:spPr>
          <a:xfrm>
            <a:off x="1611777" y="4536605"/>
            <a:ext cx="1606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1200" dirty="0">
                <a:solidFill>
                  <a:srgbClr val="FF3399"/>
                </a:solidFill>
              </a:rPr>
              <a:t>Behavioral </a:t>
            </a:r>
            <a:r>
              <a:rPr lang="de-AT" sz="1200" dirty="0" err="1">
                <a:solidFill>
                  <a:srgbClr val="FF3399"/>
                </a:solidFill>
              </a:rPr>
              <a:t>GoF</a:t>
            </a:r>
            <a:endParaRPr lang="de-AT" sz="1200" dirty="0">
              <a:solidFill>
                <a:srgbClr val="FF3399"/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E2874FA-049F-CD82-8A4D-21FBA295D354}"/>
              </a:ext>
            </a:extLst>
          </p:cNvPr>
          <p:cNvSpPr txBox="1"/>
          <p:nvPr/>
        </p:nvSpPr>
        <p:spPr>
          <a:xfrm>
            <a:off x="4482992" y="4536605"/>
            <a:ext cx="1606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1200" dirty="0" err="1">
                <a:solidFill>
                  <a:srgbClr val="FF3399"/>
                </a:solidFill>
              </a:rPr>
              <a:t>Structural</a:t>
            </a:r>
            <a:r>
              <a:rPr lang="de-AT" sz="1200" dirty="0">
                <a:solidFill>
                  <a:srgbClr val="FF3399"/>
                </a:solidFill>
              </a:rPr>
              <a:t> </a:t>
            </a:r>
            <a:r>
              <a:rPr lang="de-AT" sz="1200" dirty="0" err="1">
                <a:solidFill>
                  <a:srgbClr val="FF3399"/>
                </a:solidFill>
              </a:rPr>
              <a:t>GoF</a:t>
            </a:r>
            <a:endParaRPr lang="de-AT" sz="1200" dirty="0">
              <a:solidFill>
                <a:srgbClr val="FF3399"/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6432C3BD-70B7-DA96-BC1F-571A3EAF3101}"/>
              </a:ext>
            </a:extLst>
          </p:cNvPr>
          <p:cNvSpPr txBox="1"/>
          <p:nvPr/>
        </p:nvSpPr>
        <p:spPr>
          <a:xfrm>
            <a:off x="7125609" y="2196607"/>
            <a:ext cx="1853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br>
              <a:rPr lang="de-AT" sz="1200" dirty="0">
                <a:solidFill>
                  <a:srgbClr val="FF3399"/>
                </a:solidFill>
              </a:rPr>
            </a:br>
            <a:r>
              <a:rPr lang="de-AT" sz="1200" dirty="0">
                <a:solidFill>
                  <a:srgbClr val="FF3399"/>
                </a:solidFill>
              </a:rPr>
              <a:t>Fowler 2002 </a:t>
            </a:r>
            <a:br>
              <a:rPr lang="de-AT" sz="1200" dirty="0">
                <a:solidFill>
                  <a:srgbClr val="FF3399"/>
                </a:solidFill>
              </a:rPr>
            </a:br>
            <a:r>
              <a:rPr lang="de-AT" sz="1200" dirty="0">
                <a:solidFill>
                  <a:srgbClr val="FF3399"/>
                </a:solidFill>
              </a:rPr>
              <a:t>DDD nach Eric Evans 2003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7FD8AAB-1EF4-320D-3CFB-59E4876BC8A7}"/>
              </a:ext>
            </a:extLst>
          </p:cNvPr>
          <p:cNvSpPr txBox="1"/>
          <p:nvPr/>
        </p:nvSpPr>
        <p:spPr>
          <a:xfrm>
            <a:off x="6528819" y="4349271"/>
            <a:ext cx="2450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1200" dirty="0">
                <a:solidFill>
                  <a:srgbClr val="FF3399"/>
                </a:solidFill>
              </a:rPr>
              <a:t>„Static Factory Method“ </a:t>
            </a:r>
            <a:br>
              <a:rPr lang="de-AT" sz="1200" dirty="0">
                <a:solidFill>
                  <a:srgbClr val="FF3399"/>
                </a:solidFill>
              </a:rPr>
            </a:br>
            <a:r>
              <a:rPr lang="de-AT" sz="1200" dirty="0">
                <a:solidFill>
                  <a:srgbClr val="FF3399"/>
                </a:solidFill>
              </a:rPr>
              <a:t>nach Joshua Bloch 2001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 err="1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</a:t>
            </a:r>
            <a:endParaRPr lang="de-AT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AT" sz="14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Austauschbare Mess-Algorithmen</a:t>
            </a:r>
            <a:endParaRPr lang="de-AT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AT" sz="1100" noProof="0" dirty="0" err="1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de-AT" sz="1100" noProof="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interface </a:t>
            </a:r>
            <a:r>
              <a:rPr lang="de-AT" sz="1100" b="1" noProof="0" dirty="0" err="1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Measurer</a:t>
            </a:r>
            <a:r>
              <a:rPr lang="de-AT" sz="11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Measurement </a:t>
            </a:r>
            <a:r>
              <a:rPr lang="de-AT" sz="1100" b="1" noProof="0" dirty="0" err="1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</a:t>
            </a:r>
            <a:r>
              <a:rPr lang="de-AT" sz="11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</a:t>
            </a:r>
            <a:r>
              <a:rPr lang="de-AT" sz="11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r>
              <a:rPr lang="de-AT" sz="11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de-AT" sz="11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de-AT" sz="11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de-AT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AT" sz="11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Measurer</a:t>
            </a:r>
            <a:r>
              <a:rPr lang="de-AT" sz="11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r>
              <a:rPr lang="de-AT" sz="11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</a:t>
            </a:r>
            <a:r>
              <a:rPr lang="de-AT" sz="11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de-AT" sz="1100" noProof="0" dirty="0" err="1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de-AT" sz="1100" noProof="0" dirty="0" err="1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PingMeasurer</a:t>
            </a: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de-AT" sz="1100" noProof="0" dirty="0" err="1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de-AT" sz="1100" noProof="0" dirty="0" err="1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DnsMeasurer</a:t>
            </a: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de-AT" sz="1100" noProof="0" dirty="0" err="1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de-AT" sz="1100" noProof="0" dirty="0" err="1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HttpMeasurer</a:t>
            </a:r>
            <a:r>
              <a:rPr lang="de-AT" sz="1100" noProof="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de-AT" sz="1100" noProof="0" dirty="0"/>
          </a:p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de-AT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3200400" y="3108960"/>
            <a:ext cx="2743200" cy="502920"/>
          </a:xfrm>
          <a:prstGeom prst="rect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0" name="Text 8"/>
          <p:cNvSpPr/>
          <p:nvPr/>
        </p:nvSpPr>
        <p:spPr>
          <a:xfrm>
            <a:off x="320040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&lt;&lt;interface&gt;&gt;  </a:t>
            </a:r>
            <a:r>
              <a:rPr lang="de-AT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Measurer</a:t>
            </a:r>
            <a:endParaRPr lang="de-AT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1783080" y="3611880"/>
            <a:ext cx="18288" cy="5029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210312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PingMeasurer</a:t>
            </a:r>
            <a:endParaRPr lang="de-AT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4434840" y="3611880"/>
            <a:ext cx="18288" cy="5029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5" name="Shape 13"/>
          <p:cNvSpPr/>
          <p:nvPr/>
        </p:nvSpPr>
        <p:spPr>
          <a:xfrm>
            <a:off x="3383280" y="4114800"/>
            <a:ext cx="210312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de-AT" noProof="0" dirty="0"/>
          </a:p>
        </p:txBody>
      </p:sp>
      <p:sp>
        <p:nvSpPr>
          <p:cNvPr id="16" name="Text 14"/>
          <p:cNvSpPr/>
          <p:nvPr/>
        </p:nvSpPr>
        <p:spPr>
          <a:xfrm>
            <a:off x="338328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DnsMeasurer</a:t>
            </a:r>
            <a:endParaRPr lang="de-AT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7086600" y="3611880"/>
            <a:ext cx="18288" cy="502920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8" name="Shape 16"/>
          <p:cNvSpPr/>
          <p:nvPr/>
        </p:nvSpPr>
        <p:spPr>
          <a:xfrm>
            <a:off x="6035040" y="4114800"/>
            <a:ext cx="210312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de-AT" noProof="0" dirty="0"/>
          </a:p>
        </p:txBody>
      </p:sp>
      <p:sp>
        <p:nvSpPr>
          <p:cNvPr id="19" name="Text 17"/>
          <p:cNvSpPr/>
          <p:nvPr/>
        </p:nvSpPr>
        <p:spPr>
          <a:xfrm>
            <a:off x="603504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HttpMeasurer</a:t>
            </a:r>
            <a:endParaRPr lang="de-AT" sz="12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Plattformspezifischer Ping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18288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600" b="1" noProof="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de-AT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InetAddress.isReachable</a:t>
            </a: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()</a:t>
            </a:r>
            <a:endParaRPr lang="de-AT" sz="1200" noProof="0" dirty="0"/>
          </a:p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braucht Root für ICMP auf Linux</a:t>
            </a:r>
            <a:endParaRPr lang="de-AT" sz="1200" noProof="0" dirty="0"/>
          </a:p>
          <a:p>
            <a:pPr marL="0" indent="0">
              <a:buNone/>
            </a:pPr>
            <a:endParaRPr lang="de-AT" sz="1200" noProof="0" dirty="0"/>
          </a:p>
          <a:p>
            <a:pPr marL="0" indent="0">
              <a:buNone/>
            </a:pPr>
            <a:r>
              <a:rPr lang="de-AT" sz="12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Fallback</a:t>
            </a: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TCP Port 7  =  Timeout</a:t>
            </a:r>
            <a:endParaRPr lang="de-AT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54864" cy="18288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0" name="Text 8"/>
          <p:cNvSpPr/>
          <p:nvPr/>
        </p:nvSpPr>
        <p:spPr>
          <a:xfrm>
            <a:off x="49834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600" b="1" noProof="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de-AT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Windows: </a:t>
            </a:r>
            <a:r>
              <a:rPr lang="de-AT" sz="12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InetAddress</a:t>
            </a: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(funktioniert)</a:t>
            </a:r>
            <a:endParaRPr lang="de-AT" sz="1200" noProof="0" dirty="0"/>
          </a:p>
          <a:p>
            <a:pPr marL="0" indent="0">
              <a:buNone/>
            </a:pP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Linux/</a:t>
            </a:r>
            <a:r>
              <a:rPr lang="de-AT" sz="12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macOS</a:t>
            </a: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System-Ping via</a:t>
            </a:r>
            <a:endParaRPr lang="de-AT" sz="1200" noProof="0" dirty="0"/>
          </a:p>
          <a:p>
            <a:pPr marL="0" indent="0">
              <a:buNone/>
            </a:pPr>
            <a:r>
              <a:rPr lang="de-AT" sz="12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ProcessBuilder</a:t>
            </a:r>
            <a:r>
              <a:rPr lang="de-AT" sz="12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(/bin/ping hat SUID)</a:t>
            </a:r>
            <a:endParaRPr lang="de-AT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</a:t>
            </a:r>
            <a:endParaRPr lang="de-AT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20116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de-AT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521208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Präzision</a:t>
            </a:r>
            <a:endParaRPr lang="de-AT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658368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Besondere Rechte</a:t>
            </a:r>
            <a:endParaRPr lang="de-AT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7863840" cy="9144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b="1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</a:t>
            </a:r>
            <a:endParaRPr lang="de-AT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201168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InetAddress.isReachable</a:t>
            </a: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de-AT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521208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0.01 </a:t>
            </a: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ms</a:t>
            </a:r>
            <a:endParaRPr lang="de-AT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65836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Nicht nötig</a:t>
            </a:r>
            <a:endParaRPr lang="de-AT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b="1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Linux / NAS</a:t>
            </a:r>
            <a:endParaRPr lang="de-AT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201168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-c 1 -W 3</a:t>
            </a:r>
            <a:endParaRPr lang="de-AT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52120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 </a:t>
            </a: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ms</a:t>
            </a:r>
            <a:endParaRPr lang="de-AT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65836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SUID-Bit</a:t>
            </a:r>
            <a:endParaRPr lang="de-AT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64008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b="1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macOS</a:t>
            </a:r>
            <a:endParaRPr lang="de-AT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201168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-c 1 -W 3000</a:t>
            </a:r>
            <a:endParaRPr lang="de-AT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521208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 </a:t>
            </a: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ms</a:t>
            </a:r>
            <a:endParaRPr lang="de-AT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658368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SUID-Bit</a:t>
            </a:r>
            <a:endParaRPr lang="de-AT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2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Challenge-Response Authentifizierung</a:t>
            </a:r>
            <a:endParaRPr lang="de-AT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3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Passwort wird nie im Klartext übertragen  (auch nicht als einfacher Hash)</a:t>
            </a:r>
            <a:endParaRPr lang="de-AT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011680" cy="21945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6" name="Shape 4"/>
          <p:cNvSpPr/>
          <p:nvPr/>
        </p:nvSpPr>
        <p:spPr>
          <a:xfrm>
            <a:off x="1035198" y="1600200"/>
            <a:ext cx="457200" cy="457200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7" name="Text 5"/>
          <p:cNvSpPr/>
          <p:nvPr/>
        </p:nvSpPr>
        <p:spPr>
          <a:xfrm>
            <a:off x="102681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de-AT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4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de-AT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fordert </a:t>
            </a:r>
            <a:r>
              <a:rPr lang="de-AT" sz="11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</a:t>
            </a: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</a:t>
            </a:r>
            <a:b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(„</a:t>
            </a:r>
            <a:r>
              <a:rPr lang="de-AT" sz="1100" b="1" noProof="0" dirty="0" err="1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de-AT" sz="11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umber</a:t>
            </a: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de-AT" sz="11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</a:t>
            </a: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de-AT" sz="1100" noProof="0" dirty="0" err="1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once</a:t>
            </a: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“)</a:t>
            </a:r>
            <a:endParaRPr lang="de-AT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2286000" y="2514600"/>
            <a:ext cx="228600" cy="18288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2011680" cy="21945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2" name="Shape 10"/>
          <p:cNvSpPr/>
          <p:nvPr/>
        </p:nvSpPr>
        <p:spPr>
          <a:xfrm>
            <a:off x="3288065" y="1600200"/>
            <a:ext cx="457200" cy="457200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Text 11"/>
          <p:cNvSpPr/>
          <p:nvPr/>
        </p:nvSpPr>
        <p:spPr>
          <a:xfrm>
            <a:off x="329225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de-AT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4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de-AT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2606040" y="2514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generiert</a:t>
            </a:r>
            <a:endParaRPr lang="de-AT" sz="1100" noProof="0" dirty="0"/>
          </a:p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einmal-</a:t>
            </a:r>
            <a:r>
              <a:rPr lang="de-AT" sz="11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</a:t>
            </a:r>
            <a:endParaRPr lang="de-AT" sz="1100" noProof="0" dirty="0"/>
          </a:p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(60s TTL)</a:t>
            </a:r>
            <a:endParaRPr lang="de-AT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526280" y="2514600"/>
            <a:ext cx="228600" cy="18288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2011680" cy="21945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8" name="Shape 16"/>
          <p:cNvSpPr/>
          <p:nvPr/>
        </p:nvSpPr>
        <p:spPr>
          <a:xfrm>
            <a:off x="5532540" y="1600200"/>
            <a:ext cx="457200" cy="457200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9" name="Text 17"/>
          <p:cNvSpPr/>
          <p:nvPr/>
        </p:nvSpPr>
        <p:spPr>
          <a:xfrm>
            <a:off x="5532537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de-AT" sz="1800" noProof="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4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de-AT" sz="1400" noProof="0" dirty="0"/>
          </a:p>
        </p:txBody>
      </p:sp>
      <p:sp>
        <p:nvSpPr>
          <p:cNvPr id="21" name="Text 19"/>
          <p:cNvSpPr/>
          <p:nvPr/>
        </p:nvSpPr>
        <p:spPr>
          <a:xfrm>
            <a:off x="4526280" y="2418138"/>
            <a:ext cx="248314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SHA-256(SHA-256(</a:t>
            </a:r>
            <a:r>
              <a:rPr lang="de-AT" sz="11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</a:t>
            </a: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)+</a:t>
            </a:r>
            <a:r>
              <a:rPr lang="de-AT" sz="1100" noProof="0" dirty="0" err="1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</a:t>
            </a: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de-AT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6766560" y="2514600"/>
            <a:ext cx="228600" cy="18288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3" name="Shape 21"/>
          <p:cNvSpPr/>
          <p:nvPr/>
        </p:nvSpPr>
        <p:spPr>
          <a:xfrm>
            <a:off x="6995160" y="1463040"/>
            <a:ext cx="2011680" cy="21945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4" name="Shape 22"/>
          <p:cNvSpPr/>
          <p:nvPr/>
        </p:nvSpPr>
        <p:spPr>
          <a:xfrm>
            <a:off x="7768620" y="1600200"/>
            <a:ext cx="457200" cy="457200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5" name="Text 23"/>
          <p:cNvSpPr/>
          <p:nvPr/>
        </p:nvSpPr>
        <p:spPr>
          <a:xfrm>
            <a:off x="7760233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de-AT" sz="1800" noProof="0" dirty="0"/>
          </a:p>
        </p:txBody>
      </p:sp>
      <p:sp>
        <p:nvSpPr>
          <p:cNvPr id="26" name="Text 24"/>
          <p:cNvSpPr/>
          <p:nvPr/>
        </p:nvSpPr>
        <p:spPr>
          <a:xfrm>
            <a:off x="70866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4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de-AT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7086600" y="2514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verifiziert gegen</a:t>
            </a:r>
            <a:endParaRPr lang="de-AT" sz="1100" noProof="0" dirty="0"/>
          </a:p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gespeicherten</a:t>
            </a:r>
            <a:endParaRPr lang="de-AT" sz="1100" noProof="0" dirty="0"/>
          </a:p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de-AT" sz="1100" noProof="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9" name="Text 27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</a:t>
            </a:r>
            <a:r>
              <a:rPr lang="de-AT" sz="1200" noProof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(Client-Side)   |   </a:t>
            </a:r>
            <a:r>
              <a:rPr lang="de-AT" sz="1200" b="1" noProof="0" dirty="0" err="1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SessionManager</a:t>
            </a:r>
            <a:r>
              <a:rPr lang="de-AT" sz="1200" noProof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(Server-Side)   |   </a:t>
            </a:r>
            <a:r>
              <a:rPr lang="de-AT" sz="12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Einmal-</a:t>
            </a:r>
            <a:r>
              <a:rPr lang="de-AT" sz="1200" b="1" noProof="0" dirty="0" err="1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Nonces</a:t>
            </a:r>
            <a:r>
              <a:rPr lang="de-AT" sz="1200" noProof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(Replay-Schutz)</a:t>
            </a:r>
            <a:endParaRPr lang="de-AT" sz="12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Web-Oberfläche</a:t>
            </a:r>
            <a:endParaRPr lang="de-AT" sz="36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de-AT" sz="1600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CDE1AB2-05EE-F07D-0A56-5F016379E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09" y="994096"/>
            <a:ext cx="3743868" cy="3927096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81E8DFEA-E37B-E21F-7B3E-2DDAE66F0500}"/>
              </a:ext>
            </a:extLst>
          </p:cNvPr>
          <p:cNvCxnSpPr>
            <a:cxnSpLocks/>
          </p:cNvCxnSpPr>
          <p:nvPr/>
        </p:nvCxnSpPr>
        <p:spPr>
          <a:xfrm>
            <a:off x="4521666" y="914400"/>
            <a:ext cx="0" cy="4039299"/>
          </a:xfrm>
          <a:prstGeom prst="line">
            <a:avLst/>
          </a:prstGeom>
          <a:ln w="50800">
            <a:solidFill>
              <a:srgbClr val="1621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8713AB72-D79F-DBB2-EB23-C077CAAFA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6" y="591423"/>
            <a:ext cx="3844009" cy="43381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AT" sz="5200" b="1" noProof="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de-AT" sz="5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Tests bestanden</a:t>
            </a:r>
            <a:endParaRPr lang="de-AT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560320" cy="14630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8" name="Text 6"/>
          <p:cNvSpPr/>
          <p:nvPr/>
        </p:nvSpPr>
        <p:spPr>
          <a:xfrm>
            <a:off x="333756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AT" sz="52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de-AT" sz="5200" noProof="0" dirty="0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Testklassen</a:t>
            </a:r>
            <a:endParaRPr lang="de-AT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560320" cy="146304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1" name="Text 9"/>
          <p:cNvSpPr/>
          <p:nvPr/>
        </p:nvSpPr>
        <p:spPr>
          <a:xfrm>
            <a:off x="621792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AT" sz="5200" b="1" noProof="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de-AT" sz="5200" noProof="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Erfolgsrate</a:t>
            </a:r>
            <a:endParaRPr lang="de-AT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210312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4" name="Shape 12"/>
          <p:cNvSpPr/>
          <p:nvPr/>
        </p:nvSpPr>
        <p:spPr>
          <a:xfrm>
            <a:off x="3383280" y="3063240"/>
            <a:ext cx="914400" cy="228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5" name="Shape 13"/>
          <p:cNvSpPr/>
          <p:nvPr/>
        </p:nvSpPr>
        <p:spPr>
          <a:xfrm>
            <a:off x="3383280" y="3063240"/>
            <a:ext cx="914400" cy="2286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00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SessionManagerTest</a:t>
            </a:r>
            <a:endParaRPr lang="de-AT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30175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AT" sz="1000" b="1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de-AT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3383280" y="3520440"/>
            <a:ext cx="914400" cy="228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9" name="Shape 17"/>
          <p:cNvSpPr/>
          <p:nvPr/>
        </p:nvSpPr>
        <p:spPr>
          <a:xfrm>
            <a:off x="3383280" y="3520440"/>
            <a:ext cx="860612" cy="2286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00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ConfigTest</a:t>
            </a:r>
            <a:endParaRPr lang="de-AT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30175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AT" sz="1000" b="1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de-AT" sz="1000" noProof="0" dirty="0"/>
          </a:p>
        </p:txBody>
      </p:sp>
      <p:sp>
        <p:nvSpPr>
          <p:cNvPr id="22" name="Shape 20"/>
          <p:cNvSpPr/>
          <p:nvPr/>
        </p:nvSpPr>
        <p:spPr>
          <a:xfrm>
            <a:off x="3383280" y="3977640"/>
            <a:ext cx="914400" cy="228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3" name="Shape 21"/>
          <p:cNvSpPr/>
          <p:nvPr/>
        </p:nvSpPr>
        <p:spPr>
          <a:xfrm>
            <a:off x="3383280" y="3977640"/>
            <a:ext cx="537882" cy="2286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H2MeasurementRepositoryTest</a:t>
            </a:r>
            <a:endParaRPr lang="de-AT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3017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AT" sz="1000" b="1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de-AT" sz="1000" noProof="0" dirty="0"/>
          </a:p>
        </p:txBody>
      </p:sp>
      <p:sp>
        <p:nvSpPr>
          <p:cNvPr id="26" name="Shape 24"/>
          <p:cNvSpPr/>
          <p:nvPr/>
        </p:nvSpPr>
        <p:spPr>
          <a:xfrm>
            <a:off x="3383280" y="4434840"/>
            <a:ext cx="914400" cy="228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7" name="Shape 25"/>
          <p:cNvSpPr/>
          <p:nvPr/>
        </p:nvSpPr>
        <p:spPr>
          <a:xfrm>
            <a:off x="3383280" y="4434840"/>
            <a:ext cx="484094" cy="2286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StatisticsTest</a:t>
            </a:r>
            <a:endParaRPr lang="de-AT" sz="1000" noProof="0" dirty="0"/>
          </a:p>
        </p:txBody>
      </p:sp>
      <p:sp>
        <p:nvSpPr>
          <p:cNvPr id="29" name="Text 27"/>
          <p:cNvSpPr/>
          <p:nvPr/>
        </p:nvSpPr>
        <p:spPr>
          <a:xfrm>
            <a:off x="30175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de-AT" sz="1000" b="1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de-AT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7498080" y="3063240"/>
            <a:ext cx="914400" cy="228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1" name="Shape 29"/>
          <p:cNvSpPr/>
          <p:nvPr/>
        </p:nvSpPr>
        <p:spPr>
          <a:xfrm>
            <a:off x="7498080" y="3063240"/>
            <a:ext cx="376518" cy="2286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2" name="Text 30"/>
          <p:cNvSpPr/>
          <p:nvPr/>
        </p:nvSpPr>
        <p:spPr>
          <a:xfrm>
            <a:off x="475488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MaintenanceWindowTest</a:t>
            </a:r>
            <a:endParaRPr lang="de-AT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71323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AT" sz="1000" b="1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de-AT" sz="1000" noProof="0" dirty="0"/>
          </a:p>
        </p:txBody>
      </p:sp>
      <p:sp>
        <p:nvSpPr>
          <p:cNvPr id="34" name="Shape 32"/>
          <p:cNvSpPr/>
          <p:nvPr/>
        </p:nvSpPr>
        <p:spPr>
          <a:xfrm>
            <a:off x="7498080" y="3520440"/>
            <a:ext cx="914400" cy="228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5" name="Shape 33"/>
          <p:cNvSpPr/>
          <p:nvPr/>
        </p:nvSpPr>
        <p:spPr>
          <a:xfrm>
            <a:off x="7498080" y="3520440"/>
            <a:ext cx="322729" cy="2286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6" name="Text 34"/>
          <p:cNvSpPr/>
          <p:nvPr/>
        </p:nvSpPr>
        <p:spPr>
          <a:xfrm>
            <a:off x="475488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MeasurerInterfaceTest</a:t>
            </a:r>
            <a:endParaRPr lang="de-AT" sz="1000" noProof="0" dirty="0"/>
          </a:p>
        </p:txBody>
      </p:sp>
      <p:sp>
        <p:nvSpPr>
          <p:cNvPr id="37" name="Text 35"/>
          <p:cNvSpPr/>
          <p:nvPr/>
        </p:nvSpPr>
        <p:spPr>
          <a:xfrm>
            <a:off x="71323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AT" sz="1000" b="1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de-AT" sz="1000" noProof="0" dirty="0"/>
          </a:p>
        </p:txBody>
      </p:sp>
      <p:sp>
        <p:nvSpPr>
          <p:cNvPr id="38" name="Shape 36"/>
          <p:cNvSpPr/>
          <p:nvPr/>
        </p:nvSpPr>
        <p:spPr>
          <a:xfrm>
            <a:off x="7498080" y="3977640"/>
            <a:ext cx="914400" cy="228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9" name="Shape 37"/>
          <p:cNvSpPr/>
          <p:nvPr/>
        </p:nvSpPr>
        <p:spPr>
          <a:xfrm>
            <a:off x="7498080" y="3977640"/>
            <a:ext cx="268941" cy="2286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40" name="Text 38"/>
          <p:cNvSpPr/>
          <p:nvPr/>
        </p:nvSpPr>
        <p:spPr>
          <a:xfrm>
            <a:off x="475488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MeasurementTest</a:t>
            </a:r>
            <a:endParaRPr lang="de-AT" sz="1000" noProof="0" dirty="0"/>
          </a:p>
        </p:txBody>
      </p:sp>
      <p:sp>
        <p:nvSpPr>
          <p:cNvPr id="41" name="Text 39"/>
          <p:cNvSpPr/>
          <p:nvPr/>
        </p:nvSpPr>
        <p:spPr>
          <a:xfrm>
            <a:off x="71323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AT" sz="1000" b="1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de-AT" sz="1000" noProof="0" dirty="0"/>
          </a:p>
        </p:txBody>
      </p:sp>
      <p:sp>
        <p:nvSpPr>
          <p:cNvPr id="42" name="Shape 40"/>
          <p:cNvSpPr/>
          <p:nvPr/>
        </p:nvSpPr>
        <p:spPr>
          <a:xfrm>
            <a:off x="7498080" y="4434840"/>
            <a:ext cx="914400" cy="2286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43" name="Shape 41"/>
          <p:cNvSpPr/>
          <p:nvPr/>
        </p:nvSpPr>
        <p:spPr>
          <a:xfrm>
            <a:off x="7498080" y="4434840"/>
            <a:ext cx="215153" cy="228600"/>
          </a:xfrm>
          <a:prstGeom prst="rect">
            <a:avLst/>
          </a:prstGeom>
          <a:solidFill>
            <a:srgbClr val="19875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44" name="Text 42"/>
          <p:cNvSpPr/>
          <p:nvPr/>
        </p:nvSpPr>
        <p:spPr>
          <a:xfrm>
            <a:off x="475488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HostIdentifierTest</a:t>
            </a:r>
            <a:endParaRPr lang="de-AT" sz="1000" noProof="0" dirty="0"/>
          </a:p>
        </p:txBody>
      </p:sp>
      <p:sp>
        <p:nvSpPr>
          <p:cNvPr id="45" name="Text 43"/>
          <p:cNvSpPr/>
          <p:nvPr/>
        </p:nvSpPr>
        <p:spPr>
          <a:xfrm>
            <a:off x="71323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AT" sz="1000" b="1" noProof="0" dirty="0">
                <a:solidFill>
                  <a:srgbClr val="4D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de-AT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 err="1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20116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de-AT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965960" cy="9144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noProof="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</a:t>
            </a:r>
            <a:r>
              <a:rPr lang="de-AT" sz="13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Procrun</a:t>
            </a:r>
            <a:endParaRPr lang="de-AT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Windows-Dienst</a:t>
            </a:r>
            <a:endParaRPr lang="de-AT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19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install.bat</a:t>
            </a:r>
            <a:endParaRPr lang="de-AT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20116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de-AT" sz="2000" noProof="0" dirty="0"/>
          </a:p>
        </p:txBody>
      </p:sp>
      <p:sp>
        <p:nvSpPr>
          <p:cNvPr id="12" name="Shape 10"/>
          <p:cNvSpPr/>
          <p:nvPr/>
        </p:nvSpPr>
        <p:spPr>
          <a:xfrm>
            <a:off x="3703320" y="1691640"/>
            <a:ext cx="1965960" cy="9144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</a:t>
            </a:r>
            <a:endParaRPr lang="de-AT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systemd</a:t>
            </a: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-Service</a:t>
            </a:r>
            <a:endParaRPr lang="de-AT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19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install.sh</a:t>
            </a:r>
            <a:endParaRPr lang="de-AT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97480" cy="20116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7" name="Text 15"/>
          <p:cNvSpPr/>
          <p:nvPr/>
        </p:nvSpPr>
        <p:spPr>
          <a:xfrm>
            <a:off x="621792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b="1" noProof="0" dirty="0" err="1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de-AT" sz="2000" noProof="0" dirty="0"/>
          </a:p>
        </p:txBody>
      </p:sp>
      <p:sp>
        <p:nvSpPr>
          <p:cNvPr id="18" name="Shape 16"/>
          <p:cNvSpPr/>
          <p:nvPr/>
        </p:nvSpPr>
        <p:spPr>
          <a:xfrm>
            <a:off x="6583680" y="1691640"/>
            <a:ext cx="1965960" cy="9144"/>
          </a:xfrm>
          <a:prstGeom prst="rect">
            <a:avLst/>
          </a:prstGeom>
          <a:solidFill>
            <a:srgbClr val="3A3A5C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noProof="0" dirty="0" err="1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launchd</a:t>
            </a:r>
            <a:endParaRPr lang="de-AT" sz="1300" noProof="0" dirty="0"/>
          </a:p>
        </p:txBody>
      </p:sp>
      <p:sp>
        <p:nvSpPr>
          <p:cNvPr id="20" name="Text 18"/>
          <p:cNvSpPr/>
          <p:nvPr/>
        </p:nvSpPr>
        <p:spPr>
          <a:xfrm>
            <a:off x="621792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launchd</a:t>
            </a:r>
            <a:r>
              <a:rPr lang="de-AT" sz="11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-Service</a:t>
            </a:r>
            <a:endParaRPr lang="de-AT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6217920" y="2468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100" noProof="0" dirty="0">
                <a:solidFill>
                  <a:srgbClr val="19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install.sh</a:t>
            </a:r>
            <a:endParaRPr lang="de-AT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Getestet auf:  </a:t>
            </a:r>
            <a:r>
              <a:rPr lang="de-AT" sz="130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 10/11/11 on ARM | Raspberry Pi 4/5 (ARM64) | Ubuntu | Debian | Docker | </a:t>
            </a:r>
            <a:r>
              <a:rPr lang="de-AT" sz="1300" dirty="0" err="1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Synology</a:t>
            </a:r>
            <a:r>
              <a:rPr lang="de-AT" sz="130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NAS</a:t>
            </a:r>
            <a:endParaRPr lang="de-AT" sz="1300" dirty="0"/>
          </a:p>
        </p:txBody>
      </p:sp>
      <p:sp>
        <p:nvSpPr>
          <p:cNvPr id="24" name="Shape 22"/>
          <p:cNvSpPr/>
          <p:nvPr/>
        </p:nvSpPr>
        <p:spPr>
          <a:xfrm>
            <a:off x="2743200" y="4572000"/>
            <a:ext cx="3657600" cy="365760"/>
          </a:xfrm>
          <a:prstGeom prst="rect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5" name="Text 23"/>
          <p:cNvSpPr/>
          <p:nvPr/>
        </p:nvSpPr>
        <p:spPr>
          <a:xfrm>
            <a:off x="27432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de-AT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r>
              <a:rPr lang="de-AT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-JAR  ~17 MB  |  Java 21+</a:t>
            </a:r>
            <a:endParaRPr lang="de-AT" sz="12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54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de-AT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000" noProof="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/>
              </a:rPr>
              <a:t>http://localhost:4567</a:t>
            </a:r>
            <a:endParaRPr lang="de-AT" sz="20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de-AT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13716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de-AT" sz="36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Java-Klassen</a:t>
            </a:r>
            <a:endParaRPr lang="de-AT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0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Package, saubere Struktur</a:t>
            </a:r>
            <a:endParaRPr lang="de-AT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97480" cy="13716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9" name="Text 7"/>
          <p:cNvSpPr/>
          <p:nvPr/>
        </p:nvSpPr>
        <p:spPr>
          <a:xfrm>
            <a:off x="3337560" y="1005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de-AT" sz="3600" noProof="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b="1" noProof="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</a:t>
            </a:r>
            <a:r>
              <a:rPr lang="de-AT" sz="13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-Tests</a:t>
            </a:r>
            <a:endParaRPr lang="de-AT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0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Testklassen, 100% bestanden</a:t>
            </a:r>
            <a:endParaRPr lang="de-AT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97480" cy="13716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0" y="10058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de-AT" sz="36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</a:t>
            </a:r>
            <a:endParaRPr lang="de-AT" sz="3600" noProof="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13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</a:t>
            </a:r>
            <a:endParaRPr lang="de-AT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de-AT" sz="100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Analyse, Recherche, Entwicklung, Dokumentation</a:t>
            </a:r>
            <a:endParaRPr lang="de-AT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4882370" cy="18288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5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ich gelernt habe</a:t>
            </a:r>
            <a:endParaRPr lang="de-AT" sz="1500" noProof="0" dirty="0"/>
          </a:p>
        </p:txBody>
      </p:sp>
      <p:sp>
        <p:nvSpPr>
          <p:cNvPr id="18" name="Shape 16"/>
          <p:cNvSpPr/>
          <p:nvPr/>
        </p:nvSpPr>
        <p:spPr>
          <a:xfrm>
            <a:off x="777240" y="3154680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19" name="Text 17"/>
          <p:cNvSpPr/>
          <p:nvPr/>
        </p:nvSpPr>
        <p:spPr>
          <a:xfrm>
            <a:off x="960120" y="3063240"/>
            <a:ext cx="382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1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Plattformübergreifende Entwicklung (Windows, Linux, </a:t>
            </a:r>
            <a:r>
              <a:rPr lang="de-AT" sz="110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macOS</a:t>
            </a:r>
            <a:r>
              <a:rPr lang="de-AT" sz="11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de-AT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777240" y="3456432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1" name="Text 19"/>
          <p:cNvSpPr/>
          <p:nvPr/>
        </p:nvSpPr>
        <p:spPr>
          <a:xfrm>
            <a:off x="960119" y="3364992"/>
            <a:ext cx="3859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Web-Entwicklung </a:t>
            </a:r>
            <a:r>
              <a:rPr lang="de-AT" sz="11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 Java (</a:t>
            </a:r>
            <a:r>
              <a:rPr lang="de-AT" sz="110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Javalin</a:t>
            </a:r>
            <a:r>
              <a:rPr lang="de-AT" sz="11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REST-API, HTML/CSS/JS)</a:t>
            </a:r>
            <a:endParaRPr lang="de-AT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777240" y="3758184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3" name="Text 21"/>
          <p:cNvSpPr/>
          <p:nvPr/>
        </p:nvSpPr>
        <p:spPr>
          <a:xfrm>
            <a:off x="960120" y="3666744"/>
            <a:ext cx="3456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Kryptographie in </a:t>
            </a:r>
            <a:r>
              <a:rPr lang="de-AT" sz="11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der Praxis (Challenge-Response, SHA-256)</a:t>
            </a:r>
            <a:endParaRPr lang="de-AT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777240" y="4059936"/>
            <a:ext cx="73152" cy="73152"/>
          </a:xfrm>
          <a:prstGeom prst="ellipse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5" name="Text 23"/>
          <p:cNvSpPr/>
          <p:nvPr/>
        </p:nvSpPr>
        <p:spPr>
          <a:xfrm>
            <a:off x="960120" y="3968496"/>
            <a:ext cx="4186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1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Service-</a:t>
            </a:r>
            <a:r>
              <a:rPr lang="de-AT" sz="1100" noProof="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Deployment</a:t>
            </a:r>
            <a:r>
              <a:rPr lang="de-AT" sz="11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</a:t>
            </a:r>
            <a:r>
              <a:rPr lang="de-AT" sz="110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systemd</a:t>
            </a:r>
            <a:r>
              <a:rPr lang="de-AT" sz="11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</a:t>
            </a:r>
            <a:r>
              <a:rPr lang="de-AT" sz="1100" dirty="0" err="1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launchd</a:t>
            </a:r>
            <a:r>
              <a:rPr lang="de-AT" sz="110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Windows-Dienst)</a:t>
            </a:r>
            <a:endParaRPr lang="de-AT" sz="1100" noProof="0" dirty="0"/>
          </a:p>
        </p:txBody>
      </p:sp>
      <p:sp>
        <p:nvSpPr>
          <p:cNvPr id="26" name="Shape 24"/>
          <p:cNvSpPr/>
          <p:nvPr/>
        </p:nvSpPr>
        <p:spPr>
          <a:xfrm>
            <a:off x="5574484" y="2606040"/>
            <a:ext cx="3112316" cy="18288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 noProof="0" dirty="0"/>
          </a:p>
        </p:txBody>
      </p:sp>
      <p:sp>
        <p:nvSpPr>
          <p:cNvPr id="27" name="Shape 25"/>
          <p:cNvSpPr/>
          <p:nvPr/>
        </p:nvSpPr>
        <p:spPr>
          <a:xfrm>
            <a:off x="5522450" y="2606040"/>
            <a:ext cx="54864" cy="1828800"/>
          </a:xfrm>
          <a:prstGeom prst="rect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28" name="Text 26"/>
          <p:cNvSpPr/>
          <p:nvPr/>
        </p:nvSpPr>
        <p:spPr>
          <a:xfrm>
            <a:off x="5742665" y="26700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500" b="1" noProof="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sofort für alle verfügbar</a:t>
            </a:r>
            <a:endParaRPr lang="de-AT" sz="1500" noProof="0" dirty="0"/>
          </a:p>
        </p:txBody>
      </p:sp>
      <p:sp>
        <p:nvSpPr>
          <p:cNvPr id="29" name="Shape 27"/>
          <p:cNvSpPr/>
          <p:nvPr/>
        </p:nvSpPr>
        <p:spPr>
          <a:xfrm>
            <a:off x="5884452" y="3172968"/>
            <a:ext cx="73152" cy="73152"/>
          </a:xfrm>
          <a:prstGeom prst="ellipse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0" name="Text 28"/>
          <p:cNvSpPr/>
          <p:nvPr/>
        </p:nvSpPr>
        <p:spPr>
          <a:xfrm>
            <a:off x="6067332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de-AT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7130642" y="3063240"/>
            <a:ext cx="1373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Quellcode (Open Source)</a:t>
            </a:r>
            <a:endParaRPr lang="de-AT" sz="1000" noProof="0" dirty="0"/>
          </a:p>
        </p:txBody>
      </p:sp>
      <p:sp>
        <p:nvSpPr>
          <p:cNvPr id="32" name="Shape 30"/>
          <p:cNvSpPr/>
          <p:nvPr/>
        </p:nvSpPr>
        <p:spPr>
          <a:xfrm>
            <a:off x="5884452" y="3584448"/>
            <a:ext cx="73152" cy="73152"/>
          </a:xfrm>
          <a:prstGeom prst="ellipse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3" name="Text 31"/>
          <p:cNvSpPr/>
          <p:nvPr/>
        </p:nvSpPr>
        <p:spPr>
          <a:xfrm>
            <a:off x="6067332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+ Skripte</a:t>
            </a:r>
            <a:endParaRPr lang="de-AT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7130642" y="3474720"/>
            <a:ext cx="1373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Sofort installierbar</a:t>
            </a:r>
            <a:endParaRPr lang="de-AT" sz="1000" noProof="0" dirty="0"/>
          </a:p>
        </p:txBody>
      </p:sp>
      <p:sp>
        <p:nvSpPr>
          <p:cNvPr id="35" name="Shape 33"/>
          <p:cNvSpPr/>
          <p:nvPr/>
        </p:nvSpPr>
        <p:spPr>
          <a:xfrm>
            <a:off x="5884452" y="3995928"/>
            <a:ext cx="73152" cy="73152"/>
          </a:xfrm>
          <a:prstGeom prst="ellipse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6" name="Text 34"/>
          <p:cNvSpPr/>
          <p:nvPr/>
        </p:nvSpPr>
        <p:spPr>
          <a:xfrm>
            <a:off x="6067332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200" b="1" noProof="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de-AT" sz="1200" noProof="0" dirty="0"/>
          </a:p>
        </p:txBody>
      </p:sp>
      <p:sp>
        <p:nvSpPr>
          <p:cNvPr id="37" name="Text 35"/>
          <p:cNvSpPr/>
          <p:nvPr/>
        </p:nvSpPr>
        <p:spPr>
          <a:xfrm>
            <a:off x="7130642" y="3886200"/>
            <a:ext cx="1373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AT" sz="1000" noProof="0" dirty="0">
                <a:solidFill>
                  <a:srgbClr val="9E9E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Container in Kürze</a:t>
            </a:r>
            <a:endParaRPr lang="de-AT" sz="10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4800" b="1" noProof="0" dirty="0">
                <a:solidFill>
                  <a:srgbClr val="4D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Dank!</a:t>
            </a:r>
            <a:endParaRPr lang="de-AT" sz="48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0" y="2194560"/>
            <a:ext cx="1828800" cy="27432"/>
          </a:xfrm>
          <a:prstGeom prst="rect">
            <a:avLst/>
          </a:prstGeom>
          <a:solidFill>
            <a:srgbClr val="4D94FF"/>
          </a:solidFill>
          <a:ln/>
        </p:spPr>
        <p:txBody>
          <a:bodyPr/>
          <a:lstStyle/>
          <a:p>
            <a:endParaRPr lang="de-AT" noProof="0" dirty="0"/>
          </a:p>
        </p:txBody>
      </p:sp>
      <p:sp>
        <p:nvSpPr>
          <p:cNvPr id="6" name="Text 4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AT" sz="2800" noProof="0" dirty="0">
                <a:solidFill>
                  <a:srgbClr val="E0E0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Fragen?</a:t>
            </a:r>
            <a:endParaRPr lang="de-AT" sz="2800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A0B4394-FAB4-8EE9-E04E-2846D7DCD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121" y="3065210"/>
            <a:ext cx="4895757" cy="15708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Microsoft Office PowerPoint</Application>
  <PresentationFormat>Bildschirmpräsentation (16:9)</PresentationFormat>
  <Paragraphs>287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JetBrains Mono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SignalReport - Diplomprojekt</dc:title>
  <dc:subject>PptxGenJS Presentation</dc:subject>
  <dc:creator>Matthias Fuchsberger</dc:creator>
  <cp:lastModifiedBy>Matthias FÜSSL</cp:lastModifiedBy>
  <cp:revision>3</cp:revision>
  <dcterms:created xsi:type="dcterms:W3CDTF">2026-04-08T18:48:28Z</dcterms:created>
  <dcterms:modified xsi:type="dcterms:W3CDTF">2026-04-09T16:08:14Z</dcterms:modified>
</cp:coreProperties>
</file>